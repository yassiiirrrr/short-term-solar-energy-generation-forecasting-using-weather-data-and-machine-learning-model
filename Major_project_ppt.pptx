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Baskerville Old Face" panose="02020602080505020303" pitchFamily="18" charset="0"/>
      <p:regular r:id="rId14"/>
    </p:embeddedFont>
    <p:embeddedFont>
      <p:font typeface="Corbel" panose="020B0503020204020204" pitchFamily="34" charset="0"/>
      <p:regular r:id="rId15"/>
      <p:bold r:id="rId16"/>
      <p:italic r:id="rId17"/>
      <p:boldItalic r:id="rId18"/>
    </p:embeddedFont>
    <p:embeddedFont>
      <p:font typeface="Pinyon Script" panose="020B0604020202020204" charset="0"/>
      <p:regular r:id="rId19"/>
    </p:embeddedFont>
    <p:embeddedFont>
      <p:font typeface="Play" panose="020B060402020202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gUjLHjg5Ww669CzF2YAF6lFhFT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B232AB-A8CA-414F-96F1-EFD8D7CBE077}" v="5" dt="2026-09-03T18:33:50.9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6" d="100"/>
          <a:sy n="76" d="100"/>
        </p:scale>
        <p:origin x="2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43" Type="http://customschemas.google.com/relationships/presentationmetadata" Target="metadata"/><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qvi.yasir05@outlook.com" userId="da438d0ea8543bbe" providerId="LiveId" clId="{58D46411-17F5-4DB5-B12F-34FA921CC552}"/>
    <pc:docChg chg="undo custSel modSld">
      <pc:chgData name="naqvi.yasir05@outlook.com" userId="da438d0ea8543bbe" providerId="LiveId" clId="{58D46411-17F5-4DB5-B12F-34FA921CC552}" dt="2026-09-03T18:34:46.089" v="7" actId="1076"/>
      <pc:docMkLst>
        <pc:docMk/>
      </pc:docMkLst>
      <pc:sldChg chg="modSp mod">
        <pc:chgData name="naqvi.yasir05@outlook.com" userId="da438d0ea8543bbe" providerId="LiveId" clId="{58D46411-17F5-4DB5-B12F-34FA921CC552}" dt="2026-09-03T18:34:46.089" v="7" actId="1076"/>
        <pc:sldMkLst>
          <pc:docMk/>
          <pc:sldMk cId="0" sldId="256"/>
        </pc:sldMkLst>
        <pc:spChg chg="mod">
          <ac:chgData name="naqvi.yasir05@outlook.com" userId="da438d0ea8543bbe" providerId="LiveId" clId="{58D46411-17F5-4DB5-B12F-34FA921CC552}" dt="2026-09-03T18:34:26.047" v="6" actId="1076"/>
          <ac:spMkLst>
            <pc:docMk/>
            <pc:sldMk cId="0" sldId="256"/>
            <ac:spMk id="2" creationId="{E37BDA01-9BA1-49D2-E85A-665FAC52F8D1}"/>
          </ac:spMkLst>
        </pc:spChg>
        <pc:spChg chg="mod">
          <ac:chgData name="naqvi.yasir05@outlook.com" userId="da438d0ea8543bbe" providerId="LiveId" clId="{58D46411-17F5-4DB5-B12F-34FA921CC552}" dt="2026-09-03T18:34:01.246" v="2" actId="20577"/>
          <ac:spMkLst>
            <pc:docMk/>
            <pc:sldMk cId="0" sldId="256"/>
            <ac:spMk id="100" creationId="{00000000-0000-0000-0000-000000000000}"/>
          </ac:spMkLst>
        </pc:spChg>
        <pc:spChg chg="mod">
          <ac:chgData name="naqvi.yasir05@outlook.com" userId="da438d0ea8543bbe" providerId="LiveId" clId="{58D46411-17F5-4DB5-B12F-34FA921CC552}" dt="2026-09-03T18:34:46.089" v="7" actId="1076"/>
          <ac:spMkLst>
            <pc:docMk/>
            <pc:sldMk cId="0" sldId="256"/>
            <ac:spMk id="10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Major Project Phase-1 Presentation — School of Computer Science and Engineering, B.Tech (CSE).</a:t>
            </a:r>
          </a:p>
          <a:p>
            <a:r>
              <a:t>Project ID: 26P_3CSE302.</a:t>
            </a:r>
          </a:p>
          <a:p>
            <a:r>
              <a:t>Project Title: Short-Term Solar Energy Generation Forecasting Using Weather Data and Machine Learning Model.</a:t>
            </a:r>
          </a:p>
          <a:p>
            <a:r>
              <a:t>Team Members: Yasir Abbas Naqvi (2410030883), Gopal Tomar (2410030845), Kishan Tiwari (2410030752), Prajjwal (2410030860).</a:t>
            </a:r>
          </a:p>
          <a:p>
            <a:r>
              <a:t>Project Guide: Ms. Kirti, Assistant Professor, School of Computing Science and Engineering, IILM University, Greater Noida.</a:t>
            </a:r>
          </a:p>
          <a:p>
            <a:r>
              <a:t>Submitted in partial fulfilment of the requirement for the award of the degree of Bachelor of Technology, Session 2026-27.</a:t>
            </a: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4" name="Google Shape;10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Agenda for today's presentation: Abstract, Problem Definition, Literature Survey, Objectives, Scope, Feasibility Study and References — covering the motivation, the research gap identified from prior work, our proposed machine learning approach, and the feasibility of carrying it out.</a:t>
            </a:r>
          </a:p>
        </p:txBody>
      </p:sp>
      <p:sp>
        <p:nvSpPr>
          <p:cNvPr id="105" name="Google Shape;10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Introduction: The increasing integration of solar photovoltaic (PV) energy into the power grid necessitates reliable generation forecasting to ensure grid stability and efficient load balancing. Solar power production is inherently intermittent and heavily dependent on complex, non-linear weather factors such as irradiance, ambient temperature and module temperature, making accurate short-term prediction a significant challenge.</a:t>
            </a:r>
          </a:p>
          <a:p>
            <a:r>
              <a:t>Proposed Solution: This project proposes a robust predictive machine learning system designed to forecast short-term (hourly and daily) solar AC power output. By accurately predicting energy generation based on environmental variables, the solution aims to optimize solar power plant operations, reduce reliance on backup power sources, and facilitate seamless renewable energy grid integration.</a:t>
            </a:r>
          </a:p>
          <a:p>
            <a:r>
              <a:t>Methods and Techniques: The methodology involves comprehensive data preprocessing and feature engineering on historical plant and weather sensor data. Forecasting is treated as a regression problem, developing and training multiple algorithms — Linear Regression, Random Forest, Support Vector Regression (SVR), XGBoost and LSTM — systematically benchmarked using R², RMSE and MAE to identify the most accurate and computationally efficient approach.</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The rapid integration of solar PV systems into modern power grids is hindered by the intermittency of weather conditions. A synthesis of current forecasting literature reveals critical limitations across existing frameworks: complex deep learning architectures such as LSTM and other recurrent neural networks suffer from high computational latency, lack of feature interpretability, and a tendency to underfit when trained on limited, plant-specific datasets. Standard regression models, conversely, frequently fail to capture abrupt, non-linear weather fluctuations, struggle with generation spikes, and show inconsistent reliability across varying time granularities. Heavy ensemble methods also demand excessive processing power, making real-time edge deployment impractical.</a:t>
            </a:r>
          </a:p>
          <a:p>
            <a:r>
              <a:t>Consequently, a critical research gap exists in developing a robust yet computationally lightweight predictive framework. The central problem this project addresses is engineering an interpretable forecasting system capable of accurately mapping multi-variable meteorological sensor data — specifically solar irradiance, ambient temperature and module temperature — to short-term AC power output, achieving high predictive accuracy while maintaining minimal computational overhead.</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rPr dirty="0"/>
              <a:t>Detailed literature survey (papers 1-5):</a:t>
            </a:r>
          </a:p>
          <a:p>
            <a:r>
              <a:rPr dirty="0"/>
              <a:t>1. (2024) Forecast short-term energy generation in a solar power plant; tested MLR, ARIMA, KNN, SVR, MLP, LSTM, Random Forest, </a:t>
            </a:r>
            <a:r>
              <a:rPr dirty="0" err="1"/>
              <a:t>XGBoost</a:t>
            </a:r>
            <a:r>
              <a:rPr dirty="0"/>
              <a:t> and heterogeneous ensembles. Limitation: nonlinear models like SVR worked much worse than simple linear models.</a:t>
            </a:r>
          </a:p>
          <a:p>
            <a:r>
              <a:rPr dirty="0"/>
              <a:t>2. (2024) Tested predictive models on a vast dataset of Australian solar energy; evaluated ANN, Random Forest, Decision Tree, </a:t>
            </a:r>
            <a:r>
              <a:rPr dirty="0" err="1"/>
              <a:t>XGBoost</a:t>
            </a:r>
            <a:r>
              <a:rPr dirty="0"/>
              <a:t> and LSTM. Limitation: regression models often struggle to predict peak power values, necessitating classification approaches for high-generation spikes.</a:t>
            </a:r>
          </a:p>
          <a:p>
            <a:r>
              <a:rPr dirty="0"/>
              <a:t>3. (2019) Outlined machine learning techniques used for short-term solar energy prediction; reviewed SVR, ANN and hybrid models. Limitation: as a broad review paper, it lacks a unified empirical testing framework to benchmark the discussed algorithms identically.</a:t>
            </a:r>
          </a:p>
          <a:p>
            <a:r>
              <a:rPr dirty="0"/>
              <a:t>4. (2024) Solved consumption-production imbalances by uncovering relationships between weather and energy production; applied </a:t>
            </a:r>
            <a:r>
              <a:rPr dirty="0" err="1"/>
              <a:t>XGBoost</a:t>
            </a:r>
            <a:r>
              <a:rPr dirty="0"/>
              <a:t>, LSTM and Bi-LSTM to a Kaggle climate/solar dataset. Limitation: complex deep learning architectures like LSTM are prone to underfitting on small datasets.</a:t>
            </a:r>
          </a:p>
          <a:p>
            <a:r>
              <a:rPr dirty="0"/>
              <a:t>5. (2025) Forecast solar energy in </a:t>
            </a:r>
            <a:r>
              <a:rPr dirty="0" err="1"/>
              <a:t>Zafarana</a:t>
            </a:r>
            <a:r>
              <a:rPr dirty="0"/>
              <a:t>, Egypt using region-specific historical data; proposed a hybrid Random Forest and Gradient Boosting (RFGB) model. Limitation: tuning to regional Egyptian climate data limits its immediate generalization to other geographical zones.</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Detailed literature survey — recent findings (papers 6-10):</a:t>
            </a:r>
          </a:p>
          <a:p>
            <a:r>
              <a:t>6. (2025) Predicted PV energy generation in an energy community across varying granularities; compared Random Forest for 24-hour-ahead (30-minute intervals) and XGBoost for 5-minute interval rooftop PV data. Limitation: the best-performing model varies with data granularity, preventing use of a single universal algorithm.</a:t>
            </a:r>
          </a:p>
          <a:p>
            <a:r>
              <a:t>7. (2023) Optimized short-term solar energy forecasting using integrated computational intelligence; integrated LSTM and Gated Recurrent Units (GRU). Limitation: recurrent neural networks demand significantly higher computational resources and training time compared to tree-based regressors.</a:t>
            </a:r>
          </a:p>
          <a:p>
            <a:r>
              <a:t>8. (2026) Predicted short-term solar PV power generation on the DKASC Alice Springs dataset; compared 1D CNN, Bi-LSTM, Stacked LSTM, ANN, Linear Regression, SVR and XGBoost, validated by the Diebold-Mariano test. Limitation: the high structural complexity of Stacked LSTM reduces interpretability when analyzing individual feature importance.</a:t>
            </a:r>
          </a:p>
          <a:p>
            <a:r>
              <a:t>9. (2020) Evaluated short-term solar energy prediction by various machine learning algorithms; applied standard time-series regression algorithms to historical solar data. Limitation: basic algorithms frequently fail to capture complex, non-linear spatiotemporal interactions during rapid weather fluctuations.</a:t>
            </a:r>
          </a:p>
          <a:p>
            <a:r>
              <a:t>10. (2023) Improved predictive robustness for solar power generation across diverse meteorological zones; employed stacking and voting ensemble learning combining bagging (Random Forest) and boosting. Limitation: ensembling multiple heavy models introduces computational latency, making it less viable for instantaneous edge-device real-time monitoring.</a:t>
            </a:r>
          </a:p>
          <a:p>
            <a:r>
              <a:t>Overall, literature supports comparing multiple ML and deep-learning approaches rather than assuming one model is universally best.</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The primary objectives of this project are:</a:t>
            </a:r>
          </a:p>
          <a:p>
            <a:r>
              <a:t>1. To study existing forecasting frameworks and analyze how traditional methods fail to capture the complex, non-linear interactions between weather factors — solar radiation, ambient air temperature and module temperature — and solar PV power output.</a:t>
            </a:r>
          </a:p>
          <a:p>
            <a:r>
              <a:t>2. To develop a predictive machine learning system designed to forecast short-term (hourly and daily) solar energy generation, directly addressing the resulting challenges of load balancing, energy scheduling and grid stability.</a:t>
            </a:r>
          </a:p>
          <a:p>
            <a:r>
              <a:t>3. To implement data preprocessing and feature engineering on historical plant and weather sensor data, followed by training multiple regression and time-series models — Linear Regression, Random Forest, SVR, XGBoost and LSTM.</a:t>
            </a:r>
          </a:p>
          <a:p>
            <a:r>
              <a:t>4. To evaluate the predictive performance of the models using R², RMSE and MAE metrics to extract highly accurate generation forecasts (identifying top-performing models like XGBoost) that can optimize solar power plant operations and assist in integrating renewables into the national grid.</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The scope of the Short-Term Solar Energy Generation Forecasting project encompasses building a machine learning system aimed at predicting short-term power output based on weather sensor data.</a:t>
            </a:r>
          </a:p>
          <a:p>
            <a:r>
              <a:t>Analysis of Weather and Plant Data: study of historical weather parameters (irradiance, temperature) and their influence on plant power output.</a:t>
            </a:r>
          </a:p>
          <a:p>
            <a:r>
              <a:t>Data Preprocessing and Feature Engineering: data cleaning and transformation for building a predictive machine learning model.</a:t>
            </a:r>
          </a:p>
          <a:p>
            <a:r>
              <a:t>Building of Machine Learning Models: development of Linear Regression, Random Forest, SVR, XGBoost and LSTM models for short-term forecasting of the plant's power generation.</a:t>
            </a:r>
          </a:p>
          <a:p>
            <a:r>
              <a:t>Models Comparison and Evaluation: comparison using R², RMSE and MAE to find the most effective approach to predicting power output.</a:t>
            </a:r>
          </a:p>
          <a:p>
            <a:r>
              <a:t>Model Deploying: the model may be integrated with an API/dashboard to accept real-time weather data and give short-term power output predictions.</a:t>
            </a:r>
          </a:p>
          <a:p>
            <a:r>
              <a:t>Future Model Extension: integration with real-time weather APIs, datasets from different plants, and different forecasting horizons.</a:t>
            </a:r>
          </a:p>
          <a:p>
            <a:r>
              <a:t>Note: the project involves only short-term (hourly/daily) prediction using data from a single plant, and the model will not be deployed for production.</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Feasibility study determines whether applying machine learning for short-term forecasting of solar power generation is feasible under current resource, technological and time constraints.</a:t>
            </a:r>
          </a:p>
          <a:p>
            <a:r>
              <a:t>1. Technical Feasibility: feasible using open-source libraries — Python, pandas, NumPy, scikit-learn, XGBoost, TensorFlow and Keras. The dataset (Kaggle Plant 1 solar generation and weather sensor data) is open and available; preprocessing, EDA and model comparison have already been done and validated, and tree-based models train quickly on a regular CPU.</a:t>
            </a:r>
          </a:p>
          <a:p>
            <a:r>
              <a:t>2. Data Feasibility: the dataset is publicly available and requires no licensing. Preprocessing and EDA confirm it is clean and sufficient for training within the academic scope of this project.</a:t>
            </a:r>
          </a:p>
          <a:p>
            <a:r>
              <a:t>3. Economic Feasibility: economically feasible because all software libraries and the dataset are free; development can be done on a personal computer or free cloud services like Google Colab.</a:t>
            </a:r>
          </a:p>
          <a:p>
            <a:r>
              <a:t>4. Operational Feasibility: the trained model could be wrapped in an API that takes weather input as an argument and forecasts power generation output; the best-performing model (XGBoost) is also maintainable and interpretable.</a:t>
            </a:r>
          </a:p>
          <a:p>
            <a:r>
              <a:t>5. Schedule Feasibility: satisfactory because the most labor-intensive work — data preprocessing, exploratory data analysis and comparison of all models — has already been accomplished.</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Complete reference list:</a:t>
            </a:r>
          </a:p>
          <a:p>
            <a:r>
              <a:t>1. Sobolewski, P. et al. (2024) 'Short-Term Forecasts of Energy Generation in a Solar Power Plant Using Various Machine Learning Models, along with Ensemble and Hybrid Methods', Energies, 17(17).</a:t>
            </a:r>
          </a:p>
          <a:p>
            <a:r>
              <a:t>2. Balal, M. et al. (2024) 'Machine learning-based short-term solar power forecasting: a comparison between regression and classification approaches using extensive Australian dataset', Sustainable Energy Research.</a:t>
            </a:r>
          </a:p>
          <a:p>
            <a:r>
              <a:t>3. Zhang, S. et al. (2019) 'Short-term solar power forecasting based on machine learning techniques: A review', Renewable and Sustainable Energy Reviews.</a:t>
            </a:r>
          </a:p>
          <a:p>
            <a:r>
              <a:t>4. 'Solar Energy Production Forecasting: A Comparative Study of Bi-LSTM, LSTM, XGBoost Models with Activation Function Analysis' (2024), Preprints.org.</a:t>
            </a:r>
          </a:p>
          <a:p>
            <a:r>
              <a:t>5. 'Short-term and long-term solar irradiance forecasting with advanced machine learning techniques in Zafarana, Egypt' (2025), Scientific Reports, 15.</a:t>
            </a:r>
          </a:p>
          <a:p>
            <a:r>
              <a:t>6. 'A Comparative Study of Machine Learning Models for PV Energy Prediction in an Energy Community' (2025), Energies, 18(22).</a:t>
            </a:r>
          </a:p>
          <a:p>
            <a:r>
              <a:t>7. 'Short-term solar energy forecasting: Integrated computational intelligence of LSTMs and GRU' (2023), PMC.</a:t>
            </a:r>
          </a:p>
          <a:p>
            <a:r>
              <a:t>8. Singh, P.K. et al. (2026) 'Deep learning prediction models for short-term solar photovoltaic power generation forecasting', ScienceDirect.</a:t>
            </a:r>
          </a:p>
          <a:p>
            <a:r>
              <a:t>9. 'Short term solar energy prediction by machine learning algorithms' (2020), arXiv preprint.</a:t>
            </a:r>
          </a:p>
          <a:p>
            <a:r>
              <a:t>10. Kaggle (n.d.) 'Solar Power Generation Data — Plant 1', Kaggle Datasets.</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IN"/>
          </a:p>
        </p:txBody>
      </p:sp>
      <p:sp>
        <p:nvSpPr>
          <p:cNvPr id="3" name="Notes Placeholder 2"/>
          <p:cNvSpPr>
            <a:spLocks noGrp="1"/>
          </p:cNvSpPr>
          <p:nvPr>
            <p:ph type="body" idx="1"/>
          </p:nvPr>
        </p:nvSpPr>
        <p:spPr/>
        <p:txBody>
          <a:bodyPr/>
          <a:lstStyle/>
          <a:p>
            <a:r>
              <a:t>Thank the panel and audience for their time. Invite questions and be ready to discuss the modelling approach, evaluation metrics (R², RMSE, MAE), and next steps for Phase-II such as final model tuning, deployment via an API/dashboard, and extension to additional plants and forecasting horizons.</a:t>
            </a:r>
          </a:p>
        </p:txBody>
      </p:sp>
      <p:sp>
        <p:nvSpPr>
          <p:cNvPr id="4" name="Slide Number Placeholder 3"/>
          <p:cNvSpPr>
            <a:spLocks noGrp="1"/>
          </p:cNvSpPr>
          <p:nvPr>
            <p:ph type="sldNum" idx="12"/>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4"/>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4"/>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9" name="Google Shape;29;p34"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1" name="Google Shape;4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44" name="Google Shape;44;p36"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7"/>
          <p:cNvSpPr txBox="1">
            <a:spLocks noGrp="1"/>
          </p:cNvSpPr>
          <p:nvPr>
            <p:ph type="title"/>
          </p:nvPr>
        </p:nvSpPr>
        <p:spPr>
          <a:xfrm>
            <a:off x="839788" y="74789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54" name="Google Shape;54;p37"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38"/>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0" name="Google Shape;60;p38"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5" name="Google Shape;65;p39"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40"/>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73" name="Google Shape;73;p40"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7" name="Google Shape;77;p4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41"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4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2"/>
          <p:cNvSpPr txBox="1">
            <a:spLocks noGrp="1"/>
          </p:cNvSpPr>
          <p:nvPr>
            <p:ph type="body" idx="1"/>
          </p:nvPr>
        </p:nvSpPr>
        <p:spPr>
          <a:xfrm rot="5400000">
            <a:off x="4264182" y="-1130089"/>
            <a:ext cx="4058682" cy="109141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8" name="Google Shape;88;p42"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43"/>
          <p:cNvSpPr txBox="1">
            <a:spLocks noGrp="1"/>
          </p:cNvSpPr>
          <p:nvPr>
            <p:ph type="title"/>
          </p:nvPr>
        </p:nvSpPr>
        <p:spPr>
          <a:xfrm rot="5400000">
            <a:off x="7446169" y="2269331"/>
            <a:ext cx="518636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3"/>
          <p:cNvSpPr txBox="1">
            <a:spLocks noGrp="1"/>
          </p:cNvSpPr>
          <p:nvPr>
            <p:ph type="body" idx="1"/>
          </p:nvPr>
        </p:nvSpPr>
        <p:spPr>
          <a:xfrm rot="5400000">
            <a:off x="2112169" y="-283368"/>
            <a:ext cx="5186362"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5" name="Google Shape;95;p43"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32" descr="Top Private University in India | MBA, BBA, B.Tech ..."/>
          <p:cNvPicPr preferRelativeResize="0"/>
          <p:nvPr/>
        </p:nvPicPr>
        <p:blipFill rotWithShape="1">
          <a:blip r:embed="rId12">
            <a:alphaModFix/>
          </a:blip>
          <a:srcRect/>
          <a:stretch/>
        </p:blipFill>
        <p:spPr>
          <a:xfrm>
            <a:off x="144017" y="208994"/>
            <a:ext cx="2347573" cy="781607"/>
          </a:xfrm>
          <a:prstGeom prst="rect">
            <a:avLst/>
          </a:prstGeom>
          <a:noFill/>
          <a:ln>
            <a:noFill/>
          </a:ln>
        </p:spPr>
      </p:pic>
      <p:pic>
        <p:nvPicPr>
          <p:cNvPr id="16" name="Google Shape;16;p32"/>
          <p:cNvPicPr preferRelativeResize="0"/>
          <p:nvPr/>
        </p:nvPicPr>
        <p:blipFill rotWithShape="1">
          <a:blip r:embed="rId13">
            <a:alphaModFix amt="7000"/>
          </a:blip>
          <a:srcRect/>
          <a:stretch/>
        </p:blipFill>
        <p:spPr>
          <a:xfrm>
            <a:off x="1236794" y="2297668"/>
            <a:ext cx="9718411" cy="27211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1524000" y="1528987"/>
            <a:ext cx="9144000" cy="1900013"/>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4400"/>
              <a:buFont typeface="Times New Roman"/>
              <a:buNone/>
            </a:pPr>
            <a:r>
              <a:rPr sz="4200" b="1" dirty="0">
                <a:solidFill>
                  <a:srgbClr val="000000"/>
                </a:solidFill>
                <a:latin typeface="Times New Roman"/>
              </a:rPr>
              <a:t>School of Computer Science and Engineering</a:t>
            </a:r>
            <a:br>
              <a:rPr dirty="0"/>
            </a:br>
            <a:r>
              <a:rPr sz="4200" b="1" dirty="0">
                <a:solidFill>
                  <a:srgbClr val="000000"/>
                </a:solidFill>
                <a:latin typeface="Times New Roman"/>
              </a:rPr>
              <a:t>B.Tech (CSE</a:t>
            </a:r>
            <a:r>
              <a:rPr lang="en-IN" sz="4200" b="1" dirty="0">
                <a:solidFill>
                  <a:srgbClr val="000000"/>
                </a:solidFill>
                <a:latin typeface="Times New Roman"/>
              </a:rPr>
              <a:t>)</a:t>
            </a:r>
            <a:endParaRPr sz="4400" dirty="0"/>
          </a:p>
        </p:txBody>
      </p:sp>
      <p:sp>
        <p:nvSpPr>
          <p:cNvPr id="101" name="Google Shape;101;p1"/>
          <p:cNvSpPr txBox="1">
            <a:spLocks noGrp="1"/>
          </p:cNvSpPr>
          <p:nvPr>
            <p:ph type="subTitle" idx="1"/>
          </p:nvPr>
        </p:nvSpPr>
        <p:spPr>
          <a:xfrm>
            <a:off x="8307198" y="4948870"/>
            <a:ext cx="3046602" cy="127621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sz="1600" b="1" dirty="0">
                <a:solidFill>
                  <a:srgbClr val="000000"/>
                </a:solidFill>
                <a:latin typeface="Times New Roman"/>
              </a:rPr>
              <a:t>Team Members-</a:t>
            </a:r>
            <a:br>
              <a:rPr dirty="0"/>
            </a:br>
            <a:r>
              <a:rPr sz="1600" b="1" dirty="0">
                <a:solidFill>
                  <a:srgbClr val="000000"/>
                </a:solidFill>
                <a:latin typeface="Times New Roman"/>
              </a:rPr>
              <a:t>Yasir Abbas Naqvi (2410030883)</a:t>
            </a:r>
            <a:br>
              <a:rPr dirty="0"/>
            </a:br>
            <a:r>
              <a:rPr sz="1600" b="1" dirty="0">
                <a:solidFill>
                  <a:srgbClr val="000000"/>
                </a:solidFill>
                <a:latin typeface="Times New Roman"/>
              </a:rPr>
              <a:t>Gopal Tomar (2410030845)</a:t>
            </a:r>
            <a:br>
              <a:rPr dirty="0"/>
            </a:br>
            <a:endParaRPr b="1" dirty="0">
              <a:solidFill>
                <a:srgbClr val="9E0F00"/>
              </a:solidFill>
              <a:latin typeface="Times New Roman"/>
              <a:ea typeface="Times New Roman"/>
              <a:cs typeface="Times New Roman"/>
              <a:sym typeface="Times New Roman"/>
            </a:endParaRPr>
          </a:p>
        </p:txBody>
      </p:sp>
      <p:sp>
        <p:nvSpPr>
          <p:cNvPr id="2" name="Google Shape;101;p1">
            <a:extLst>
              <a:ext uri="{FF2B5EF4-FFF2-40B4-BE49-F238E27FC236}">
                <a16:creationId xmlns:a16="http://schemas.microsoft.com/office/drawing/2014/main" id="{E37BDA01-9BA1-49D2-E85A-665FAC52F8D1}"/>
              </a:ext>
            </a:extLst>
          </p:cNvPr>
          <p:cNvSpPr txBox="1">
            <a:spLocks/>
          </p:cNvSpPr>
          <p:nvPr/>
        </p:nvSpPr>
        <p:spPr>
          <a:xfrm>
            <a:off x="658368" y="3440110"/>
            <a:ext cx="10875264" cy="150876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pPr marL="0" indent="0" algn="l">
              <a:spcBef>
                <a:spcPts val="0"/>
              </a:spcBef>
              <a:spcAft>
                <a:spcPts val="0"/>
              </a:spcAft>
            </a:pPr>
            <a:r>
              <a:rPr sz="1900" b="1" dirty="0">
                <a:solidFill>
                  <a:srgbClr val="AD0000"/>
                </a:solidFill>
                <a:latin typeface="Times New Roman"/>
              </a:rPr>
              <a:t>Project ID-</a:t>
            </a:r>
            <a:r>
              <a:rPr lang="en-US" sz="1900" b="1" dirty="0">
                <a:solidFill>
                  <a:srgbClr val="AD0000"/>
                </a:solidFill>
                <a:latin typeface="Times New Roman"/>
              </a:rPr>
              <a:t> </a:t>
            </a:r>
            <a:r>
              <a:rPr sz="1900" b="1" dirty="0">
                <a:solidFill>
                  <a:srgbClr val="AD0000"/>
                </a:solidFill>
                <a:latin typeface="Times New Roman"/>
              </a:rPr>
              <a:t> </a:t>
            </a:r>
            <a:r>
              <a:rPr lang="en-US" sz="1900" b="1" dirty="0">
                <a:solidFill>
                  <a:srgbClr val="AD0000"/>
                </a:solidFill>
                <a:latin typeface="Times New Roman"/>
              </a:rPr>
              <a:t>26P_3CSE302</a:t>
            </a:r>
          </a:p>
          <a:p>
            <a:pPr marL="0" indent="0" algn="l">
              <a:spcBef>
                <a:spcPts val="0"/>
              </a:spcBef>
              <a:spcAft>
                <a:spcPts val="0"/>
              </a:spcAft>
            </a:pPr>
            <a:r>
              <a:rPr sz="1900" b="1" dirty="0">
                <a:solidFill>
                  <a:srgbClr val="AD0000"/>
                </a:solidFill>
                <a:latin typeface="Times New Roman"/>
              </a:rPr>
              <a:t>Project Title</a:t>
            </a:r>
            <a:r>
              <a:rPr lang="en-US" sz="1900" b="1" dirty="0">
                <a:solidFill>
                  <a:srgbClr val="AD0000"/>
                </a:solidFill>
                <a:latin typeface="Times New Roman"/>
              </a:rPr>
              <a:t>- Short Term Solar Energy Generation Forecasting Using Weather Data and </a:t>
            </a:r>
            <a:r>
              <a:rPr lang="en-US" sz="1900" b="1" dirty="0" err="1">
                <a:solidFill>
                  <a:srgbClr val="AD0000"/>
                </a:solidFill>
                <a:latin typeface="Times New Roman"/>
              </a:rPr>
              <a:t>Maching</a:t>
            </a:r>
            <a:endParaRPr lang="en-US" sz="1900" b="1" dirty="0">
              <a:solidFill>
                <a:srgbClr val="AD0000"/>
              </a:solidFill>
              <a:latin typeface="Times New Roman"/>
            </a:endParaRPr>
          </a:p>
          <a:p>
            <a:pPr marL="0" indent="0" algn="l">
              <a:spcBef>
                <a:spcPts val="0"/>
              </a:spcBef>
            </a:pPr>
            <a:r>
              <a:rPr lang="en-US" sz="1900" b="1" dirty="0">
                <a:solidFill>
                  <a:srgbClr val="AD0000"/>
                </a:solidFill>
                <a:latin typeface="Times New Roman"/>
              </a:rPr>
              <a:t>                        Learning Model</a:t>
            </a:r>
            <a:endParaRPr sz="1700" b="1" dirty="0">
              <a:solidFill>
                <a:srgbClr val="AD0000"/>
              </a:solidFill>
              <a:latin typeface="Times New Roman"/>
            </a:endParaRPr>
          </a:p>
        </p:txBody>
      </p:sp>
      <p:sp>
        <p:nvSpPr>
          <p:cNvPr id="3" name="Google Shape;101;p1">
            <a:extLst>
              <a:ext uri="{FF2B5EF4-FFF2-40B4-BE49-F238E27FC236}">
                <a16:creationId xmlns:a16="http://schemas.microsoft.com/office/drawing/2014/main" id="{8632F2FA-5002-1972-BD5C-63AEA08FCA2A}"/>
              </a:ext>
            </a:extLst>
          </p:cNvPr>
          <p:cNvSpPr txBox="1">
            <a:spLocks/>
          </p:cNvSpPr>
          <p:nvPr/>
        </p:nvSpPr>
        <p:spPr>
          <a:xfrm>
            <a:off x="3853543" y="453794"/>
            <a:ext cx="3931920" cy="94513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pPr marL="0" indent="0" algn="ctr">
              <a:spcBef>
                <a:spcPts val="0"/>
              </a:spcBef>
            </a:pPr>
            <a:r>
              <a:rPr sz="2800" b="1">
                <a:solidFill>
                  <a:srgbClr val="AD0000"/>
                </a:solidFill>
                <a:latin typeface="Times New Roman"/>
              </a:rPr>
              <a:t>Major Project Phase-1</a:t>
            </a:r>
            <a:br/>
            <a:r>
              <a:rPr sz="2800" b="1">
                <a:solidFill>
                  <a:srgbClr val="AD0000"/>
                </a:solidFill>
                <a:latin typeface="Times New Roman"/>
              </a:rPr>
              <a:t>Presentation</a:t>
            </a:r>
            <a:endParaRPr lang="en-US" b="1" dirty="0">
              <a:solidFill>
                <a:srgbClr val="9E0F00"/>
              </a:solidFill>
              <a:latin typeface="Times New Roman"/>
              <a:ea typeface="Times New Roman"/>
              <a:cs typeface="Times New Roman"/>
              <a:sym typeface="Times New Roman"/>
            </a:endParaRPr>
          </a:p>
        </p:txBody>
      </p:sp>
      <p:sp>
        <p:nvSpPr>
          <p:cNvPr id="4" name="Google Shape;101;p1">
            <a:extLst>
              <a:ext uri="{FF2B5EF4-FFF2-40B4-BE49-F238E27FC236}">
                <a16:creationId xmlns:a16="http://schemas.microsoft.com/office/drawing/2014/main" id="{AE5D53C0-7D9C-0407-9838-59BD2520362B}"/>
              </a:ext>
            </a:extLst>
          </p:cNvPr>
          <p:cNvSpPr txBox="1">
            <a:spLocks/>
          </p:cNvSpPr>
          <p:nvPr/>
        </p:nvSpPr>
        <p:spPr>
          <a:xfrm>
            <a:off x="717091" y="4992624"/>
            <a:ext cx="3840480" cy="9144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81000"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355600"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L="3200400" marR="0" lvl="6"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L="3657600" marR="0" lvl="7"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L="4114800" marR="0" lvl="8" indent="-342900"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pPr marL="0" indent="0">
              <a:spcBef>
                <a:spcPts val="0"/>
              </a:spcBef>
            </a:pPr>
            <a:r>
              <a:rPr sz="1900" b="1" dirty="0">
                <a:latin typeface="Times New Roman"/>
              </a:rPr>
              <a:t>Project Guide-</a:t>
            </a:r>
            <a:endParaRPr lang="en-US" b="1" dirty="0">
              <a:solidFill>
                <a:srgbClr val="9E0F00"/>
              </a:solidFill>
              <a:latin typeface="Times New Roman"/>
              <a:ea typeface="Times New Roman"/>
              <a:cs typeface="Times New Roman"/>
              <a:sym typeface="Times New Roman"/>
            </a:endParaRPr>
          </a:p>
          <a:p>
            <a:r>
              <a:rPr sz="1900" b="1" dirty="0">
                <a:latin typeface="Times New Roman"/>
              </a:rPr>
              <a:t>Ms. Kirti</a:t>
            </a:r>
          </a:p>
        </p:txBody>
      </p:sp>
      <p:sp>
        <p:nvSpPr>
          <p:cNvPr id="5" name="Slide Number Placeholder 4">
            <a:extLst>
              <a:ext uri="{FF2B5EF4-FFF2-40B4-BE49-F238E27FC236}">
                <a16:creationId xmlns:a16="http://schemas.microsoft.com/office/drawing/2014/main" id="{7CD9CF99-5DAA-461F-6635-596F5C6F5448}"/>
              </a:ext>
            </a:extLst>
          </p:cNvPr>
          <p:cNvSpPr>
            <a:spLocks noGrp="1"/>
          </p:cNvSpPr>
          <p:nvPr>
            <p:ph type="sldNum" idx="12"/>
          </p:nvPr>
        </p:nvSpPr>
        <p:spPr/>
        <p:txBody>
          <a:bodyPr/>
          <a:lstStyle/>
          <a:p>
            <a:r>
              <a:rPr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400" b="0" dirty="0">
                <a:solidFill>
                  <a:srgbClr val="5A5A5A"/>
                </a:solidFill>
                <a:latin typeface="Corbel"/>
              </a:rPr>
              <a:t>Contents</a:t>
            </a:r>
            <a:endParaRPr lang="en-US" dirty="0"/>
          </a:p>
        </p:txBody>
      </p:sp>
      <p:sp>
        <p:nvSpPr>
          <p:cNvPr id="108" name="Google Shape;108;p2"/>
          <p:cNvSpPr txBox="1">
            <a:spLocks noGrp="1"/>
          </p:cNvSpPr>
          <p:nvPr>
            <p:ph type="body" idx="1"/>
          </p:nvPr>
        </p:nvSpPr>
        <p:spPr>
          <a:xfrm>
            <a:off x="836426" y="1691640"/>
            <a:ext cx="10810744" cy="4480560"/>
          </a:xfrm>
          <a:prstGeom prst="rect">
            <a:avLst/>
          </a:prstGeom>
          <a:noFill/>
          <a:ln>
            <a:noFill/>
          </a:ln>
        </p:spPr>
        <p:txBody>
          <a:bodyPr spcFirstLastPara="1" wrap="square" lIns="73152" tIns="18288" rIns="73152" bIns="18288" anchor="t" anchorCtr="0">
            <a:normAutofit/>
          </a:bodyPr>
          <a:lstStyle/>
          <a:p>
            <a:pPr marL="342900" algn="just">
              <a:buFont typeface="Arial" panose="020B0604020202020204" pitchFamily="34" charset="0"/>
              <a:buChar char="•"/>
              <a:defRPr sz="2200">
                <a:solidFill>
                  <a:srgbClr val="000000"/>
                </a:solidFill>
                <a:latin typeface="Corbel"/>
              </a:defRPr>
            </a:pPr>
            <a:r>
              <a:rPr lang="en-IN" sz="2200" dirty="0">
                <a:solidFill>
                  <a:srgbClr val="000000"/>
                </a:solidFill>
                <a:latin typeface="Corbel"/>
              </a:rPr>
              <a:t>Abstract</a:t>
            </a:r>
            <a:endParaRPr sz="2200" dirty="0">
              <a:solidFill>
                <a:srgbClr val="000000"/>
              </a:solidFill>
              <a:latin typeface="Corbel"/>
            </a:endParaRPr>
          </a:p>
          <a:p>
            <a:pPr>
              <a:buFont typeface="Arial" panose="020B0604020202020204" pitchFamily="34" charset="0"/>
              <a:buChar char="•"/>
              <a:defRPr sz="2200">
                <a:solidFill>
                  <a:srgbClr val="000000"/>
                </a:solidFill>
                <a:latin typeface="Corbel"/>
              </a:defRPr>
            </a:pPr>
            <a:r>
              <a:rPr sz="2200" dirty="0">
                <a:solidFill>
                  <a:srgbClr val="000000"/>
                </a:solidFill>
                <a:latin typeface="Corbel"/>
              </a:rPr>
              <a:t>Problem Definition</a:t>
            </a:r>
          </a:p>
          <a:p>
            <a:pPr>
              <a:buFont typeface="Arial" panose="020B0604020202020204" pitchFamily="34" charset="0"/>
              <a:buChar char="•"/>
              <a:defRPr sz="2200">
                <a:solidFill>
                  <a:srgbClr val="000000"/>
                </a:solidFill>
                <a:latin typeface="Corbel"/>
              </a:defRPr>
            </a:pPr>
            <a:r>
              <a:rPr sz="2200" dirty="0">
                <a:solidFill>
                  <a:srgbClr val="000000"/>
                </a:solidFill>
                <a:latin typeface="Corbel"/>
              </a:rPr>
              <a:t>Literature Survey</a:t>
            </a:r>
          </a:p>
          <a:p>
            <a:pPr>
              <a:buFont typeface="Arial" panose="020B0604020202020204" pitchFamily="34" charset="0"/>
              <a:buChar char="•"/>
              <a:defRPr sz="2200">
                <a:solidFill>
                  <a:srgbClr val="000000"/>
                </a:solidFill>
                <a:latin typeface="Corbel"/>
              </a:defRPr>
            </a:pPr>
            <a:r>
              <a:rPr sz="2200" dirty="0">
                <a:solidFill>
                  <a:srgbClr val="000000"/>
                </a:solidFill>
                <a:latin typeface="Corbel"/>
              </a:rPr>
              <a:t>Objectives</a:t>
            </a:r>
          </a:p>
          <a:p>
            <a:pPr>
              <a:buFont typeface="Arial" panose="020B0604020202020204" pitchFamily="34" charset="0"/>
              <a:buChar char="•"/>
              <a:defRPr sz="2200">
                <a:solidFill>
                  <a:srgbClr val="000000"/>
                </a:solidFill>
                <a:latin typeface="Corbel"/>
              </a:defRPr>
            </a:pPr>
            <a:r>
              <a:rPr sz="2200" dirty="0">
                <a:solidFill>
                  <a:srgbClr val="000000"/>
                </a:solidFill>
                <a:latin typeface="Corbel"/>
              </a:rPr>
              <a:t>Scope</a:t>
            </a:r>
          </a:p>
          <a:p>
            <a:pPr>
              <a:buFont typeface="Arial" panose="020B0604020202020204" pitchFamily="34" charset="0"/>
              <a:buChar char="•"/>
              <a:defRPr sz="2200">
                <a:solidFill>
                  <a:srgbClr val="000000"/>
                </a:solidFill>
                <a:latin typeface="Corbel"/>
              </a:defRPr>
            </a:pPr>
            <a:r>
              <a:rPr sz="2200" dirty="0">
                <a:solidFill>
                  <a:srgbClr val="000000"/>
                </a:solidFill>
                <a:latin typeface="Corbel"/>
              </a:rPr>
              <a:t>Feasibility Study</a:t>
            </a:r>
          </a:p>
          <a:p>
            <a:pPr>
              <a:buFont typeface="Arial" panose="020B0604020202020204" pitchFamily="34" charset="0"/>
              <a:buChar char="•"/>
              <a:defRPr sz="2200">
                <a:solidFill>
                  <a:srgbClr val="000000"/>
                </a:solidFill>
                <a:latin typeface="Corbel"/>
              </a:defRPr>
            </a:pPr>
            <a:r>
              <a:rPr sz="2200" dirty="0">
                <a:solidFill>
                  <a:srgbClr val="000000"/>
                </a:solidFill>
                <a:latin typeface="Corbel"/>
              </a:rPr>
              <a:t>References</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Abstract</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2000">
                <a:solidFill>
                  <a:srgbClr val="000000"/>
                </a:solidFill>
                <a:latin typeface="Corbel"/>
              </a:defRPr>
            </a:pPr>
            <a:r>
              <a:rPr sz="2000">
                <a:solidFill>
                  <a:srgbClr val="000000"/>
                </a:solidFill>
                <a:latin typeface="Corbel"/>
              </a:rPr>
              <a:t>Solar PV generation is strongly influenced by weather factors such as irradiance, ambient temperature and module temperature.</a:t>
            </a:r>
          </a:p>
          <a:p>
            <a:pPr>
              <a:buChar char="•"/>
              <a:defRPr sz="2000">
                <a:solidFill>
                  <a:srgbClr val="000000"/>
                </a:solidFill>
                <a:latin typeface="Corbel"/>
              </a:defRPr>
            </a:pPr>
            <a:r>
              <a:rPr sz="2000">
                <a:solidFill>
                  <a:srgbClr val="000000"/>
                </a:solidFill>
                <a:latin typeface="Corbel"/>
              </a:rPr>
              <a:t>The project treats short-term (hourly/daily) solar generation forecasting as a regression problem.</a:t>
            </a:r>
          </a:p>
          <a:p>
            <a:pPr>
              <a:buChar char="•"/>
              <a:defRPr sz="2000">
                <a:solidFill>
                  <a:srgbClr val="000000"/>
                </a:solidFill>
                <a:latin typeface="Corbel"/>
              </a:defRPr>
            </a:pPr>
            <a:r>
              <a:rPr sz="2000">
                <a:solidFill>
                  <a:srgbClr val="000000"/>
                </a:solidFill>
                <a:latin typeface="Corbel"/>
              </a:rPr>
              <a:t>Historical weather-sensor data is used to predict AC power output.</a:t>
            </a:r>
          </a:p>
          <a:p>
            <a:pPr>
              <a:buChar char="•"/>
              <a:defRPr sz="2000">
                <a:solidFill>
                  <a:srgbClr val="000000"/>
                </a:solidFill>
                <a:latin typeface="Corbel"/>
              </a:defRPr>
            </a:pPr>
            <a:r>
              <a:rPr sz="2000">
                <a:solidFill>
                  <a:srgbClr val="000000"/>
                </a:solidFill>
                <a:latin typeface="Corbel"/>
              </a:rPr>
              <a:t>Models evaluated: Linear Regression, Random Forest, SVR, XGBoost and LSTM.</a:t>
            </a:r>
          </a:p>
          <a:p>
            <a:pPr>
              <a:buChar char="•"/>
              <a:defRPr sz="2000">
                <a:solidFill>
                  <a:srgbClr val="000000"/>
                </a:solidFill>
                <a:latin typeface="Corbel"/>
              </a:defRPr>
            </a:pPr>
            <a:r>
              <a:rPr sz="2000">
                <a:solidFill>
                  <a:srgbClr val="000000"/>
                </a:solidFill>
                <a:latin typeface="Corbel"/>
              </a:rPr>
              <a:t>XGBoost achieved the best reported accuracy (R² = 0.993), followed by Random Forest (R² = 0.991); LSTM reported R² = 0.868.</a:t>
            </a:r>
          </a:p>
          <a:p>
            <a:pPr>
              <a:buChar char="•"/>
              <a:defRPr sz="2000">
                <a:solidFill>
                  <a:srgbClr val="000000"/>
                </a:solidFill>
                <a:latin typeface="Corbel"/>
              </a:defRPr>
            </a:pPr>
            <a:r>
              <a:rPr sz="2000">
                <a:solidFill>
                  <a:srgbClr val="000000"/>
                </a:solidFill>
                <a:latin typeface="Corbel"/>
              </a:rPr>
              <a:t>Accurate forecasts can support solar-plant operation and optimization.</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Problem Definition</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1900">
                <a:solidFill>
                  <a:srgbClr val="000000"/>
                </a:solidFill>
                <a:latin typeface="Corbel"/>
              </a:defRPr>
            </a:pPr>
            <a:r>
              <a:rPr sz="1900">
                <a:solidFill>
                  <a:srgbClr val="000000"/>
                </a:solidFill>
                <a:latin typeface="Corbel"/>
              </a:rPr>
              <a:t>Solar PV power is intermittent because weather variables interact non-linearly with power generation.</a:t>
            </a:r>
          </a:p>
          <a:p>
            <a:pPr>
              <a:buChar char="•"/>
              <a:defRPr sz="1900">
                <a:solidFill>
                  <a:srgbClr val="000000"/>
                </a:solidFill>
                <a:latin typeface="Corbel"/>
              </a:defRPr>
            </a:pPr>
            <a:r>
              <a:rPr sz="1900">
                <a:solidFill>
                  <a:srgbClr val="000000"/>
                </a:solidFill>
                <a:latin typeface="Corbel"/>
              </a:rPr>
              <a:t>This creates challenges for grid integration, load balancing and energy scheduling.</a:t>
            </a:r>
          </a:p>
          <a:p>
            <a:pPr>
              <a:buChar char="•"/>
              <a:defRPr sz="1900">
                <a:solidFill>
                  <a:srgbClr val="000000"/>
                </a:solidFill>
                <a:latin typeface="Corbel"/>
              </a:defRPr>
            </a:pPr>
            <a:r>
              <a:rPr sz="1900">
                <a:solidFill>
                  <a:srgbClr val="000000"/>
                </a:solidFill>
                <a:latin typeface="Corbel"/>
              </a:rPr>
              <a:t>Traditional methods may not capture complex relationships between weather parameters and power output.</a:t>
            </a:r>
          </a:p>
          <a:p>
            <a:pPr>
              <a:buChar char="•"/>
              <a:defRPr sz="1900">
                <a:solidFill>
                  <a:srgbClr val="000000"/>
                </a:solidFill>
                <a:latin typeface="Corbel"/>
              </a:defRPr>
            </a:pPr>
            <a:r>
              <a:rPr sz="1900">
                <a:solidFill>
                  <a:srgbClr val="000000"/>
                </a:solidFill>
                <a:latin typeface="Corbel"/>
              </a:rPr>
              <a:t>Inputs: solar radiation, ambient air temperature and module temperature.</a:t>
            </a:r>
          </a:p>
          <a:p>
            <a:pPr>
              <a:buChar char="•"/>
              <a:defRPr sz="1900">
                <a:solidFill>
                  <a:srgbClr val="000000"/>
                </a:solidFill>
                <a:latin typeface="Corbel"/>
              </a:defRPr>
            </a:pPr>
            <a:r>
              <a:rPr sz="1900">
                <a:solidFill>
                  <a:srgbClr val="000000"/>
                </a:solidFill>
                <a:latin typeface="Corbel"/>
              </a:rPr>
              <a:t>Output: short-term AC power generation.</a:t>
            </a:r>
          </a:p>
          <a:p>
            <a:pPr>
              <a:buChar char="•"/>
              <a:defRPr sz="1900">
                <a:solidFill>
                  <a:srgbClr val="000000"/>
                </a:solidFill>
                <a:latin typeface="Corbel"/>
              </a:defRPr>
            </a:pPr>
            <a:r>
              <a:rPr sz="1900">
                <a:solidFill>
                  <a:srgbClr val="000000"/>
                </a:solidFill>
                <a:latin typeface="Corbel"/>
              </a:rPr>
              <a:t>The project builds and compares multiple regression and time-series models using R², RMSE and MAE.</a:t>
            </a:r>
          </a:p>
          <a:p>
            <a:pPr>
              <a:buChar char="•"/>
              <a:defRPr sz="1900">
                <a:solidFill>
                  <a:srgbClr val="000000"/>
                </a:solidFill>
                <a:latin typeface="Corbel"/>
              </a:defRPr>
            </a:pPr>
            <a:r>
              <a:rPr sz="1900">
                <a:solidFill>
                  <a:srgbClr val="000000"/>
                </a:solidFill>
                <a:latin typeface="Corbel"/>
              </a:rPr>
              <a:t>Forecasting can support renewable-grid integration, backup-power reduction, energy trading and plant monitoring.</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Literature Survey</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1800">
                <a:solidFill>
                  <a:srgbClr val="000000"/>
                </a:solidFill>
                <a:latin typeface="Corbel"/>
              </a:defRPr>
            </a:pPr>
            <a:r>
              <a:rPr sz="1800" dirty="0">
                <a:solidFill>
                  <a:srgbClr val="000000"/>
                </a:solidFill>
                <a:latin typeface="Corbel"/>
              </a:rPr>
              <a:t>Sobolewski et al. (2024): heterogeneous ensemble performed best in </a:t>
            </a:r>
            <a:r>
              <a:rPr sz="1800" dirty="0" err="1">
                <a:solidFill>
                  <a:srgbClr val="000000"/>
                </a:solidFill>
                <a:latin typeface="Corbel"/>
              </a:rPr>
              <a:t>nRMSE</a:t>
            </a:r>
            <a:r>
              <a:rPr sz="1800" dirty="0">
                <a:solidFill>
                  <a:srgbClr val="000000"/>
                </a:solidFill>
                <a:latin typeface="Corbel"/>
              </a:rPr>
              <a:t>; RF and </a:t>
            </a:r>
            <a:r>
              <a:rPr sz="1800" dirty="0" err="1">
                <a:solidFill>
                  <a:srgbClr val="000000"/>
                </a:solidFill>
                <a:latin typeface="Corbel"/>
              </a:rPr>
              <a:t>XGBoost</a:t>
            </a:r>
            <a:r>
              <a:rPr sz="1800" dirty="0">
                <a:solidFill>
                  <a:srgbClr val="000000"/>
                </a:solidFill>
                <a:latin typeface="Corbel"/>
              </a:rPr>
              <a:t> also performed strongly.</a:t>
            </a:r>
          </a:p>
          <a:p>
            <a:pPr>
              <a:buChar char="•"/>
              <a:defRPr sz="1800">
                <a:solidFill>
                  <a:srgbClr val="000000"/>
                </a:solidFill>
                <a:latin typeface="Corbel"/>
              </a:defRPr>
            </a:pPr>
            <a:r>
              <a:rPr sz="1800" dirty="0">
                <a:solidFill>
                  <a:srgbClr val="000000"/>
                </a:solidFill>
                <a:latin typeface="Corbel"/>
              </a:rPr>
              <a:t>Balal et al. (2023/2024): Random Forest and LSTM showed low MSE on an Australian solar dataset; another comparison reported ANN with R² = 0.9988.</a:t>
            </a:r>
          </a:p>
          <a:p>
            <a:pPr>
              <a:buChar char="•"/>
              <a:defRPr sz="1800">
                <a:solidFill>
                  <a:srgbClr val="000000"/>
                </a:solidFill>
                <a:latin typeface="Corbel"/>
              </a:defRPr>
            </a:pPr>
            <a:r>
              <a:rPr sz="1800" dirty="0">
                <a:solidFill>
                  <a:srgbClr val="000000"/>
                </a:solidFill>
                <a:latin typeface="Corbel"/>
              </a:rPr>
              <a:t>Zhang et al. (2019): reviewed SVR, ANN and hybrid approaches for short-term solar prediction.</a:t>
            </a:r>
          </a:p>
          <a:p>
            <a:pPr>
              <a:buChar char="•"/>
              <a:defRPr sz="1800">
                <a:solidFill>
                  <a:srgbClr val="000000"/>
                </a:solidFill>
                <a:latin typeface="Corbel"/>
              </a:defRPr>
            </a:pPr>
            <a:r>
              <a:rPr sz="1800" dirty="0">
                <a:solidFill>
                  <a:srgbClr val="000000"/>
                </a:solidFill>
                <a:latin typeface="Corbel"/>
              </a:rPr>
              <a:t>A 2024 study compared </a:t>
            </a:r>
            <a:r>
              <a:rPr sz="1800" dirty="0" err="1">
                <a:solidFill>
                  <a:srgbClr val="000000"/>
                </a:solidFill>
                <a:latin typeface="Corbel"/>
              </a:rPr>
              <a:t>XGBoost</a:t>
            </a:r>
            <a:r>
              <a:rPr sz="1800" dirty="0">
                <a:solidFill>
                  <a:srgbClr val="000000"/>
                </a:solidFill>
                <a:latin typeface="Corbel"/>
              </a:rPr>
              <a:t>, LSTM and Bi-LSTM on a Kaggle climate/solar dataset.</a:t>
            </a:r>
          </a:p>
          <a:p>
            <a:pPr>
              <a:buChar char="•"/>
              <a:defRPr sz="1800">
                <a:solidFill>
                  <a:srgbClr val="000000"/>
                </a:solidFill>
                <a:latin typeface="Corbel"/>
              </a:defRPr>
            </a:pPr>
            <a:r>
              <a:rPr sz="1800" dirty="0">
                <a:solidFill>
                  <a:srgbClr val="000000"/>
                </a:solidFill>
                <a:latin typeface="Corbel"/>
              </a:rPr>
              <a:t>A 2025 </a:t>
            </a:r>
            <a:r>
              <a:rPr sz="1800" dirty="0" err="1">
                <a:solidFill>
                  <a:srgbClr val="000000"/>
                </a:solidFill>
                <a:latin typeface="Corbel"/>
              </a:rPr>
              <a:t>Zafarana</a:t>
            </a:r>
            <a:r>
              <a:rPr sz="1800" dirty="0">
                <a:solidFill>
                  <a:srgbClr val="000000"/>
                </a:solidFill>
                <a:latin typeface="Corbel"/>
              </a:rPr>
              <a:t> study reported an RFGB hybrid model with R² = 0.80.</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Literature Survey — Recent Findings</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2000">
                <a:solidFill>
                  <a:srgbClr val="000000"/>
                </a:solidFill>
                <a:latin typeface="Corbel"/>
              </a:defRPr>
            </a:pPr>
            <a:r>
              <a:rPr sz="2000">
                <a:solidFill>
                  <a:srgbClr val="000000"/>
                </a:solidFill>
                <a:latin typeface="Corbel"/>
              </a:rPr>
              <a:t>MDPI Energies (2025): Random Forest performed better for 24-hour-ahead forecasts at 30-minute intervals, while XGBoost performed better for 5-minute rooftop PV data.</a:t>
            </a:r>
          </a:p>
          <a:p>
            <a:pPr>
              <a:buChar char="•"/>
              <a:defRPr sz="2000">
                <a:solidFill>
                  <a:srgbClr val="000000"/>
                </a:solidFill>
                <a:latin typeface="Corbel"/>
              </a:defRPr>
            </a:pPr>
            <a:r>
              <a:rPr sz="2000">
                <a:solidFill>
                  <a:srgbClr val="000000"/>
                </a:solidFill>
                <a:latin typeface="Corbel"/>
              </a:rPr>
              <a:t>The best-performing model varies with data granularity and forecasting setup.</a:t>
            </a:r>
          </a:p>
          <a:p>
            <a:pPr>
              <a:buChar char="•"/>
              <a:defRPr sz="2000">
                <a:solidFill>
                  <a:srgbClr val="000000"/>
                </a:solidFill>
                <a:latin typeface="Corbel"/>
              </a:defRPr>
            </a:pPr>
            <a:r>
              <a:rPr sz="2000">
                <a:solidFill>
                  <a:srgbClr val="000000"/>
                </a:solidFill>
                <a:latin typeface="Corbel"/>
              </a:rPr>
              <a:t>ScienceDirect (2026): on the DKASC Alice Springs dataset, Stacked LSTM achieved the highest average R² of 0.9004 among compared models.</a:t>
            </a:r>
          </a:p>
          <a:p>
            <a:pPr>
              <a:buChar char="•"/>
              <a:defRPr sz="2000">
                <a:solidFill>
                  <a:srgbClr val="000000"/>
                </a:solidFill>
                <a:latin typeface="Corbel"/>
              </a:defRPr>
            </a:pPr>
            <a:r>
              <a:rPr sz="2000">
                <a:solidFill>
                  <a:srgbClr val="000000"/>
                </a:solidFill>
                <a:latin typeface="Corbel"/>
              </a:rPr>
              <a:t>Overall, literature supports comparing multiple ML and deep-learning approaches rather than assuming one model is universally best.</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Objectives</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2200">
                <a:solidFill>
                  <a:srgbClr val="000000"/>
                </a:solidFill>
                <a:latin typeface="Corbel"/>
              </a:defRPr>
            </a:pPr>
            <a:r>
              <a:rPr sz="2200">
                <a:solidFill>
                  <a:srgbClr val="000000"/>
                </a:solidFill>
                <a:latin typeface="Corbel"/>
              </a:rPr>
              <a:t>Gather and process historical solar-plant and weather-sensor data.</a:t>
            </a:r>
          </a:p>
          <a:p>
            <a:pPr>
              <a:buChar char="•"/>
              <a:defRPr sz="2200">
                <a:solidFill>
                  <a:srgbClr val="000000"/>
                </a:solidFill>
                <a:latin typeface="Corbel"/>
              </a:defRPr>
            </a:pPr>
            <a:r>
              <a:rPr sz="2200">
                <a:solidFill>
                  <a:srgbClr val="000000"/>
                </a:solidFill>
                <a:latin typeface="Corbel"/>
              </a:rPr>
              <a:t>Identify important features affecting short-term power generation.</a:t>
            </a:r>
          </a:p>
          <a:p>
            <a:pPr>
              <a:buChar char="•"/>
              <a:defRPr sz="2200">
                <a:solidFill>
                  <a:srgbClr val="000000"/>
                </a:solidFill>
                <a:latin typeface="Corbel"/>
              </a:defRPr>
            </a:pPr>
            <a:r>
              <a:rPr sz="2200">
                <a:solidFill>
                  <a:srgbClr val="000000"/>
                </a:solidFill>
                <a:latin typeface="Corbel"/>
              </a:rPr>
              <a:t>Create and train Linear Regression, Random Forest, SVR, XGBoost and LSTM models.</a:t>
            </a:r>
          </a:p>
          <a:p>
            <a:pPr>
              <a:buChar char="•"/>
              <a:defRPr sz="2200">
                <a:solidFill>
                  <a:srgbClr val="000000"/>
                </a:solidFill>
                <a:latin typeface="Corbel"/>
              </a:defRPr>
            </a:pPr>
            <a:r>
              <a:rPr sz="2200">
                <a:solidFill>
                  <a:srgbClr val="000000"/>
                </a:solidFill>
                <a:latin typeface="Corbel"/>
              </a:rPr>
              <a:t>Predict short-term (hourly/daily) solar energy generation.</a:t>
            </a:r>
          </a:p>
          <a:p>
            <a:pPr>
              <a:buChar char="•"/>
              <a:defRPr sz="2200">
                <a:solidFill>
                  <a:srgbClr val="000000"/>
                </a:solidFill>
                <a:latin typeface="Corbel"/>
              </a:defRPr>
            </a:pPr>
            <a:r>
              <a:rPr sz="2200">
                <a:solidFill>
                  <a:srgbClr val="000000"/>
                </a:solidFill>
                <a:latin typeface="Corbel"/>
              </a:rPr>
              <a:t>Compare model performance using R², RMSE and MAE.</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Scope</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1900">
                <a:solidFill>
                  <a:srgbClr val="000000"/>
                </a:solidFill>
                <a:latin typeface="Corbel"/>
              </a:defRPr>
            </a:pPr>
            <a:r>
              <a:rPr sz="1900">
                <a:solidFill>
                  <a:srgbClr val="000000"/>
                </a:solidFill>
                <a:latin typeface="Corbel"/>
              </a:rPr>
              <a:t>Analyze historical weather and plant data, especially irradiance and temperature.</a:t>
            </a:r>
          </a:p>
          <a:p>
            <a:pPr>
              <a:buChar char="•"/>
              <a:defRPr sz="1900">
                <a:solidFill>
                  <a:srgbClr val="000000"/>
                </a:solidFill>
                <a:latin typeface="Corbel"/>
              </a:defRPr>
            </a:pPr>
            <a:r>
              <a:rPr sz="1900">
                <a:solidFill>
                  <a:srgbClr val="000000"/>
                </a:solidFill>
                <a:latin typeface="Corbel"/>
              </a:rPr>
              <a:t>Perform data cleaning, transformation and feature engineering.</a:t>
            </a:r>
          </a:p>
          <a:p>
            <a:pPr>
              <a:buChar char="•"/>
              <a:defRPr sz="1900">
                <a:solidFill>
                  <a:srgbClr val="000000"/>
                </a:solidFill>
                <a:latin typeface="Corbel"/>
              </a:defRPr>
            </a:pPr>
            <a:r>
              <a:rPr sz="1900">
                <a:solidFill>
                  <a:srgbClr val="000000"/>
                </a:solidFill>
                <a:latin typeface="Corbel"/>
              </a:rPr>
              <a:t>Develop regression and time-series models for short-term power forecasting.</a:t>
            </a:r>
          </a:p>
          <a:p>
            <a:pPr>
              <a:buChar char="•"/>
              <a:defRPr sz="1900">
                <a:solidFill>
                  <a:srgbClr val="000000"/>
                </a:solidFill>
                <a:latin typeface="Corbel"/>
              </a:defRPr>
            </a:pPr>
            <a:r>
              <a:rPr sz="1900">
                <a:solidFill>
                  <a:srgbClr val="000000"/>
                </a:solidFill>
                <a:latin typeface="Corbel"/>
              </a:rPr>
              <a:t>Compare models using R², RMSE and MAE.</a:t>
            </a:r>
          </a:p>
          <a:p>
            <a:pPr>
              <a:buChar char="•"/>
              <a:defRPr sz="1900">
                <a:solidFill>
                  <a:srgbClr val="000000"/>
                </a:solidFill>
                <a:latin typeface="Corbel"/>
              </a:defRPr>
            </a:pPr>
            <a:r>
              <a:rPr sz="1900">
                <a:solidFill>
                  <a:srgbClr val="000000"/>
                </a:solidFill>
                <a:latin typeface="Corbel"/>
              </a:rPr>
              <a:t>Potentially integrate the model with an API/dashboard for real-time weather inputs.</a:t>
            </a:r>
          </a:p>
          <a:p>
            <a:pPr>
              <a:buChar char="•"/>
              <a:defRPr sz="1900">
                <a:solidFill>
                  <a:srgbClr val="000000"/>
                </a:solidFill>
                <a:latin typeface="Corbel"/>
              </a:defRPr>
            </a:pPr>
            <a:r>
              <a:rPr sz="1900">
                <a:solidFill>
                  <a:srgbClr val="000000"/>
                </a:solidFill>
                <a:latin typeface="Corbel"/>
              </a:rPr>
              <a:t>Future extensions: real-time weather API, data from different plants and different forecasting horizons.</a:t>
            </a:r>
          </a:p>
          <a:p>
            <a:pPr>
              <a:buChar char="•"/>
              <a:defRPr sz="1900">
                <a:solidFill>
                  <a:srgbClr val="000000"/>
                </a:solidFill>
                <a:latin typeface="Corbel"/>
              </a:defRPr>
            </a:pPr>
            <a:r>
              <a:rPr sz="1900">
                <a:solidFill>
                  <a:srgbClr val="000000"/>
                </a:solidFill>
                <a:latin typeface="Corbel"/>
              </a:rPr>
              <a:t>Current scope is limited to hourly/daily prediction using data from a single plant; production deployment is not included.</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Feasibility Study</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1900">
                <a:solidFill>
                  <a:srgbClr val="000000"/>
                </a:solidFill>
                <a:latin typeface="Corbel"/>
              </a:defRPr>
            </a:pPr>
            <a:r>
              <a:rPr sz="1900">
                <a:solidFill>
                  <a:srgbClr val="000000"/>
                </a:solidFill>
                <a:latin typeface="Corbel"/>
              </a:rPr>
              <a:t>Technical: feasible using Python, pandas, NumPy, scikit-learn, XGBoost, TensorFlow and Keras; tree-based models train quickly on a regular CPU.</a:t>
            </a:r>
          </a:p>
          <a:p>
            <a:pPr>
              <a:buChar char="•"/>
              <a:defRPr sz="1900">
                <a:solidFill>
                  <a:srgbClr val="000000"/>
                </a:solidFill>
                <a:latin typeface="Corbel"/>
              </a:defRPr>
            </a:pPr>
            <a:r>
              <a:rPr sz="1900">
                <a:solidFill>
                  <a:srgbClr val="000000"/>
                </a:solidFill>
                <a:latin typeface="Corbel"/>
              </a:rPr>
              <a:t>Data: Kaggle Plant 1 solar generation and weather-sensor data is publicly available and suitable for the academic scope.</a:t>
            </a:r>
          </a:p>
          <a:p>
            <a:pPr>
              <a:buChar char="•"/>
              <a:defRPr sz="1900">
                <a:solidFill>
                  <a:srgbClr val="000000"/>
                </a:solidFill>
                <a:latin typeface="Corbel"/>
              </a:defRPr>
            </a:pPr>
            <a:r>
              <a:rPr sz="1900">
                <a:solidFill>
                  <a:srgbClr val="000000"/>
                </a:solidFill>
                <a:latin typeface="Corbel"/>
              </a:rPr>
              <a:t>Economic: open-source libraries and dataset are free; development can use a personal computer or Google Colab.</a:t>
            </a:r>
          </a:p>
          <a:p>
            <a:pPr>
              <a:buChar char="•"/>
              <a:defRPr sz="1900">
                <a:solidFill>
                  <a:srgbClr val="000000"/>
                </a:solidFill>
                <a:latin typeface="Corbel"/>
              </a:defRPr>
            </a:pPr>
            <a:r>
              <a:rPr sz="1900">
                <a:solidFill>
                  <a:srgbClr val="000000"/>
                </a:solidFill>
                <a:latin typeface="Corbel"/>
              </a:rPr>
              <a:t>Operational: the trained model can be wrapped in an API that accepts weather inputs and forecasts power generation.</a:t>
            </a:r>
          </a:p>
          <a:p>
            <a:pPr>
              <a:buChar char="•"/>
              <a:defRPr sz="1900">
                <a:solidFill>
                  <a:srgbClr val="000000"/>
                </a:solidFill>
                <a:latin typeface="Corbel"/>
              </a:defRPr>
            </a:pPr>
            <a:r>
              <a:rPr sz="1900">
                <a:solidFill>
                  <a:srgbClr val="000000"/>
                </a:solidFill>
                <a:latin typeface="Corbel"/>
              </a:rPr>
              <a:t>Schedule: major work such as preprocessing, EDA and model comparison has already been accomplished.</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07;p2"/>
          <p:cNvSpPr txBox="1">
            <a:spLocks noGrp="1"/>
          </p:cNvSpPr>
          <p:nvPr>
            <p:ph type="title"/>
          </p:nvPr>
        </p:nvSpPr>
        <p:spPr>
          <a:xfrm>
            <a:off x="2699658" y="707572"/>
            <a:ext cx="7032172" cy="923266"/>
          </a:xfrm>
          <a:prstGeom prst="rect">
            <a:avLst/>
          </a:prstGeom>
          <a:noFill/>
          <a:ln>
            <a:noFill/>
          </a:ln>
        </p:spPr>
        <p:txBody>
          <a:bodyPr spcFirstLastPara="1" wrap="square" lIns="91425" tIns="45700" rIns="91425" bIns="45700" anchor="ctr" anchorCtr="0">
            <a:normAutofit/>
          </a:bodyPr>
          <a:lstStyle/>
          <a:p>
            <a:pPr lvl="0" algn="ctr">
              <a:buClr>
                <a:srgbClr val="585858"/>
              </a:buClr>
              <a:buSzPts val="3200"/>
            </a:pPr>
            <a:r>
              <a:rPr sz="3200" b="0">
                <a:solidFill>
                  <a:srgbClr val="5A5A5A"/>
                </a:solidFill>
                <a:latin typeface="Corbel"/>
              </a:rPr>
              <a:t>References</a:t>
            </a:r>
            <a:endParaRPr lang="en-US" dirty="0"/>
          </a:p>
        </p:txBody>
      </p:sp>
      <p:sp>
        <p:nvSpPr>
          <p:cNvPr id="108" name="Google Shape;108;p2"/>
          <p:cNvSpPr txBox="1">
            <a:spLocks noGrp="1"/>
          </p:cNvSpPr>
          <p:nvPr>
            <p:ph type="body" idx="1"/>
          </p:nvPr>
        </p:nvSpPr>
        <p:spPr>
          <a:xfrm>
            <a:off x="836426" y="1691640"/>
            <a:ext cx="10810744" cy="4526280"/>
          </a:xfrm>
          <a:prstGeom prst="rect">
            <a:avLst/>
          </a:prstGeom>
          <a:noFill/>
          <a:ln>
            <a:noFill/>
          </a:ln>
        </p:spPr>
        <p:txBody>
          <a:bodyPr spcFirstLastPara="1" wrap="square" lIns="73152" tIns="18288" rIns="73152" bIns="18288" anchor="t" anchorCtr="0">
            <a:normAutofit/>
          </a:bodyPr>
          <a:lstStyle/>
          <a:p>
            <a:pPr marL="228600" indent="-228600" algn="just" rtl="0">
              <a:buChar char="•"/>
              <a:defRPr sz="1500">
                <a:solidFill>
                  <a:srgbClr val="000000"/>
                </a:solidFill>
                <a:latin typeface="Corbel"/>
              </a:defRPr>
            </a:pPr>
            <a:r>
              <a:rPr sz="1500">
                <a:solidFill>
                  <a:srgbClr val="000000"/>
                </a:solidFill>
                <a:latin typeface="Corbel"/>
              </a:rPr>
              <a:t>Sobolewski, P. et al. (2024), Energies, “Short-Term Forecasts of Energy Generation in a Solar Power Plant Using Various Machine Learning Models, along with Ensemble and Hybrid Methods”.</a:t>
            </a:r>
          </a:p>
          <a:p>
            <a:pPr>
              <a:buChar char="•"/>
              <a:defRPr sz="1500">
                <a:solidFill>
                  <a:srgbClr val="000000"/>
                </a:solidFill>
                <a:latin typeface="Corbel"/>
              </a:defRPr>
            </a:pPr>
            <a:r>
              <a:rPr sz="1500">
                <a:solidFill>
                  <a:srgbClr val="000000"/>
                </a:solidFill>
                <a:latin typeface="Corbel"/>
              </a:rPr>
              <a:t>Balal, M. et al. (2024), Sustainable Energy Research, “Machine learning-based short-term solar power forecasting”.</a:t>
            </a:r>
          </a:p>
          <a:p>
            <a:pPr>
              <a:buChar char="•"/>
              <a:defRPr sz="1500">
                <a:solidFill>
                  <a:srgbClr val="000000"/>
                </a:solidFill>
                <a:latin typeface="Corbel"/>
              </a:defRPr>
            </a:pPr>
            <a:r>
              <a:rPr sz="1500">
                <a:solidFill>
                  <a:srgbClr val="000000"/>
                </a:solidFill>
                <a:latin typeface="Corbel"/>
              </a:rPr>
              <a:t>Zhang, S. et al. (2019), Renewable and Sustainable Energy Reviews, “Short-term solar power forecasting based on machine learning techniques: A review”.</a:t>
            </a:r>
          </a:p>
          <a:p>
            <a:pPr>
              <a:buChar char="•"/>
              <a:defRPr sz="1500">
                <a:solidFill>
                  <a:srgbClr val="000000"/>
                </a:solidFill>
                <a:latin typeface="Corbel"/>
              </a:defRPr>
            </a:pPr>
            <a:r>
              <a:rPr sz="1500">
                <a:solidFill>
                  <a:srgbClr val="000000"/>
                </a:solidFill>
                <a:latin typeface="Corbel"/>
              </a:rPr>
              <a:t>“Solar Energy Production Forecasting: A Comparative Study of Bi-LSTM, LSTM, XGBoost Models with Activation Function Analysis” (2024), Preprints.org.</a:t>
            </a:r>
          </a:p>
          <a:p>
            <a:pPr>
              <a:buChar char="•"/>
              <a:defRPr sz="1500">
                <a:solidFill>
                  <a:srgbClr val="000000"/>
                </a:solidFill>
                <a:latin typeface="Corbel"/>
              </a:defRPr>
            </a:pPr>
            <a:r>
              <a:rPr sz="1500">
                <a:solidFill>
                  <a:srgbClr val="000000"/>
                </a:solidFill>
                <a:latin typeface="Corbel"/>
              </a:rPr>
              <a:t>“Short-term and long-term solar irradiance forecasting with advanced machine learning techniques in Zafarana, Egypt” (2025), Scientific Reports.</a:t>
            </a:r>
          </a:p>
          <a:p>
            <a:pPr>
              <a:buChar char="•"/>
              <a:defRPr sz="1500">
                <a:solidFill>
                  <a:srgbClr val="000000"/>
                </a:solidFill>
                <a:latin typeface="Corbel"/>
              </a:defRPr>
            </a:pPr>
            <a:r>
              <a:rPr sz="1500">
                <a:solidFill>
                  <a:srgbClr val="000000"/>
                </a:solidFill>
                <a:latin typeface="Corbel"/>
              </a:rPr>
              <a:t>“A Comparative Study of Machine Learning Models for PV Energy Prediction in an Energy Community” (2025), Energies.</a:t>
            </a:r>
          </a:p>
          <a:p>
            <a:pPr>
              <a:buChar char="•"/>
              <a:defRPr sz="1500">
                <a:solidFill>
                  <a:srgbClr val="000000"/>
                </a:solidFill>
                <a:latin typeface="Corbel"/>
              </a:defRPr>
            </a:pPr>
            <a:r>
              <a:rPr sz="1500">
                <a:solidFill>
                  <a:srgbClr val="000000"/>
                </a:solidFill>
                <a:latin typeface="Corbel"/>
              </a:rPr>
              <a:t>Kaggle, “Solar Power Generation Data — Plant 1”.</a:t>
            </a:r>
          </a:p>
        </p:txBody>
      </p:sp>
      <p:sp>
        <p:nvSpPr>
          <p:cNvPr id="2" name="Slide Number Placeholder 1">
            <a:extLst>
              <a:ext uri="{FF2B5EF4-FFF2-40B4-BE49-F238E27FC236}">
                <a16:creationId xmlns:a16="http://schemas.microsoft.com/office/drawing/2014/main" id="{F9620742-630D-AB0B-42DF-7A8612B67829}"/>
              </a:ext>
            </a:extLst>
          </p:cNvPr>
          <p:cNvSpPr>
            <a:spLocks noGrp="1"/>
          </p:cNvSpPr>
          <p:nvPr>
            <p:ph type="sldNum" idx="12"/>
          </p:nvPr>
        </p:nvSpPr>
        <p:spPr/>
        <p:txBody>
          <a:bodyPr/>
          <a:lstStyle/>
          <a:p>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Google Shape;304;p31"/>
          <p:cNvSpPr txBox="1">
            <a:spLocks noGrp="1"/>
          </p:cNvSpPr>
          <p:nvPr>
            <p:ph type="title"/>
          </p:nvPr>
        </p:nvSpPr>
        <p:spPr>
          <a:xfrm>
            <a:off x="640080" y="1920240"/>
            <a:ext cx="10881360" cy="246888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19900"/>
              <a:buFont typeface="Pinyon Script"/>
              <a:buNone/>
            </a:pPr>
            <a:r>
              <a:rPr sz="5600" b="0">
                <a:solidFill>
                  <a:srgbClr val="000000"/>
                </a:solidFill>
                <a:latin typeface="Baskerville Old Face"/>
              </a:rPr>
              <a:t>Thank You</a:t>
            </a:r>
            <a:endParaRPr dirty="0">
              <a:latin typeface="Baskerville Old Face" panose="02020602080505020303" pitchFamily="18" charset="0"/>
              <a:ea typeface="Tahoma" panose="020B0604030504040204" pitchFamily="34" charset="0"/>
              <a:cs typeface="Tahoma" panose="020B0604030504040204" pitchFamily="34" charset="0"/>
            </a:endParaRPr>
          </a:p>
        </p:txBody>
      </p:sp>
      <p:sp>
        <p:nvSpPr>
          <p:cNvPr id="2" name="Slide Number Placeholder 1">
            <a:extLst>
              <a:ext uri="{FF2B5EF4-FFF2-40B4-BE49-F238E27FC236}">
                <a16:creationId xmlns:a16="http://schemas.microsoft.com/office/drawing/2014/main" id="{5DA739E5-BE89-83A6-51AD-90C1432F4977}"/>
              </a:ext>
            </a:extLst>
          </p:cNvPr>
          <p:cNvSpPr>
            <a:spLocks noGrp="1"/>
          </p:cNvSpPr>
          <p:nvPr>
            <p:ph type="sldNum" idx="12"/>
          </p:nvPr>
        </p:nvSpPr>
        <p:spPr/>
        <p:txBody>
          <a:bodyPr/>
          <a:lstStyle/>
          <a:p>
            <a:r>
              <a:t>11</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2865</Words>
  <Application>Microsoft Office PowerPoint</Application>
  <PresentationFormat>Widescreen</PresentationFormat>
  <Paragraphs>139</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Times New Roman</vt:lpstr>
      <vt:lpstr>Baskerville Old Face</vt:lpstr>
      <vt:lpstr>Arial</vt:lpstr>
      <vt:lpstr>Pinyon Script</vt:lpstr>
      <vt:lpstr>Calibri</vt:lpstr>
      <vt:lpstr>Play</vt:lpstr>
      <vt:lpstr>Corbel</vt:lpstr>
      <vt:lpstr>Office Theme</vt:lpstr>
      <vt:lpstr>School of Computer Science and Engineering B.Tech (CSE)</vt:lpstr>
      <vt:lpstr>Contents</vt:lpstr>
      <vt:lpstr>Abstract</vt:lpstr>
      <vt:lpstr>Problem Definition</vt:lpstr>
      <vt:lpstr>Literature Survey</vt:lpstr>
      <vt:lpstr>Literature Survey — Recent Findings</vt:lpstr>
      <vt:lpstr>Objectives</vt:lpstr>
      <vt:lpstr>Scope</vt:lpstr>
      <vt:lpstr>Feasibility Study</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Anil Saroliya</dc:creator>
  <cp:lastModifiedBy>naqvi.yasir05@outlook.com</cp:lastModifiedBy>
  <cp:revision>6</cp:revision>
  <dcterms:created xsi:type="dcterms:W3CDTF">2025-07-19T19:52:25Z</dcterms:created>
  <dcterms:modified xsi:type="dcterms:W3CDTF">2026-09-03T18:34:55Z</dcterms:modified>
</cp:coreProperties>
</file>